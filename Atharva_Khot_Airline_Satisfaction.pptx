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46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1A6EBD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A6EB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3F2-4DA0-9BE9-46B250F0CD13}"/>
              </c:ext>
            </c:extLst>
          </c:dPt>
          <c:dPt>
            <c:idx val="1"/>
            <c:invertIfNegative val="0"/>
            <c:bubble3D val="0"/>
            <c:spPr>
              <a:solidFill>
                <a:srgbClr val="1A6EB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3F2-4DA0-9BE9-46B250F0CD13}"/>
              </c:ext>
            </c:extLst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3F2-4DA0-9BE9-46B250F0CD13}"/>
              </c:ext>
            </c:extLst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3F2-4DA0-9BE9-46B250F0CD13}"/>
              </c:ext>
            </c:extLst>
          </c:dPt>
          <c:dPt>
            <c:idx val="4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3F2-4DA0-9BE9-46B250F0CD1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Online Boarding</c:v>
                </c:pt>
                <c:pt idx="1">
                  <c:v>In-flight Wifi</c:v>
                </c:pt>
                <c:pt idx="2">
                  <c:v>Class</c:v>
                </c:pt>
                <c:pt idx="3">
                  <c:v>Type of Travel</c:v>
                </c:pt>
                <c:pt idx="4">
                  <c:v>In-flight Entertain.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0.16900000000000001</c:v>
                </c:pt>
                <c:pt idx="1">
                  <c:v>0.153</c:v>
                </c:pt>
                <c:pt idx="2">
                  <c:v>0.104</c:v>
                </c:pt>
                <c:pt idx="3">
                  <c:v>9.6000000000000002E-2</c:v>
                </c:pt>
                <c:pt idx="4">
                  <c:v>5.7000000000000002E-2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3F2-4DA0-9BE9-46B250F0CD1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406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first. Then say: This project predicts whether an airline passenger will be satisfied or dissatisfied based on their flight experience and service ratings. I used a dataset of 129,880 passengers with 21 features and built 4 classification models. My best model — Random Forest — achieved a ROC-AUC of 0.9946.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business problem first — why does this matter to an airline? Then explain the dataset. Highlight the two data quality issues you found yourself — the mixed type in Flight Distance and the multicollinearity between delay columns. These show real EDA thinking.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EDA story. Don't just describe the charts — tell the mentor what you FOUND and what it means for the business. Three key findings: 1) Online Boarding is the biggest lever. 2) Economy class is the pain point. 3) First-time passengers are churn risk. These findings directly led to your recommendations in the conclusion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talking points: 1) Why Random Forest? Because it handles non-linear relationships, is robust to outliers, and the CV gap of 0.0007 proves no overfitting. 2) Why ROC-AUC as primary metric? Because accuracy is misleading on imbalanced data. 3) The feature importance matches what we found in EDA — Online Boarding was top in both correlation and model importance. This consistency proves the model is learning real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confidence. Say: My Random Forest model achieves 0.9946 ROC-AUC and correctly identifies 98% of dissatisfied passengers. The cross-validation gap of 0.0007 confirms no overfitting. The top actionable insight is that Online Boarding — not seat comfort or food — is the single biggest driver of satisfaction. Airlines investing in their digital boarding experience will see the highest return. Thank the mentor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-502920"/>
            <a:ext cx="2011680" cy="2011680"/>
          </a:xfrm>
          <a:prstGeom prst="ellipse">
            <a:avLst/>
          </a:prstGeom>
          <a:solidFill>
            <a:srgbClr val="1A6EBD">
              <a:alpha val="25000"/>
            </a:srgbClr>
          </a:solidFill>
          <a:ln w="12700">
            <a:solidFill>
              <a:srgbClr val="1A6EBD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49640" y="-137160"/>
            <a:ext cx="1280160" cy="1280160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502920"/>
            <a:ext cx="2286000" cy="347472"/>
          </a:xfrm>
          <a:prstGeom prst="roundRect">
            <a:avLst>
              <a:gd name="adj" fmla="val 26316"/>
            </a:avLst>
          </a:prstGeom>
          <a:solidFill>
            <a:srgbClr val="1A6EBD">
              <a:alpha val="70000"/>
            </a:srgbClr>
          </a:solidFill>
          <a:ln w="12700">
            <a:solidFill>
              <a:srgbClr val="1A6E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029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AVIATION · DATA SCIENCE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7132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Airline Passenger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Satisfaction Prediction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02920" y="278892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0C4E8"/>
                </a:solidFill>
              </a:rPr>
              <a:t>Binary Classification · 129,880 Passengers · 21 Features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3200400"/>
            <a:ext cx="41148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342900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132D4A"/>
          </a:solidFill>
          <a:ln w="12700">
            <a:solidFill>
              <a:srgbClr val="1A6EBD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4930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129,880 rows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2920" y="3931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AFD4"/>
                </a:solidFill>
              </a:rPr>
              <a:t>Dataset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51760" y="342900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132D4A"/>
          </a:solidFill>
          <a:ln w="12700">
            <a:solidFill>
              <a:srgbClr val="1A6EBD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34930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21 columns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651760" y="3931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AFD4"/>
                </a:solidFill>
              </a:rPr>
              <a:t>Features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0600" y="342900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132D4A"/>
          </a:solidFill>
          <a:ln w="12700">
            <a:solidFill>
              <a:srgbClr val="1A6EBD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34930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Random Forest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800600" y="3931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AFD4"/>
                </a:solidFill>
              </a:rPr>
              <a:t>Best Model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49440" y="342900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132D4A"/>
          </a:solidFill>
          <a:ln w="12700">
            <a:solidFill>
              <a:srgbClr val="1A6EBD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34930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0.9946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949440" y="3931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AFD4"/>
                </a:solidFill>
              </a:rPr>
              <a:t>ROC-AUC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80A0"/>
                </a:solidFill>
              </a:rPr>
              <a:t>Presented by  Atharva Khot  |  M.Sc. AI &amp; ML  |  Learnbay Data Science Program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6EBD"/>
          </a:solidFill>
          <a:ln w="12700">
            <a:solidFill>
              <a:srgbClr val="1A6E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Problem Statement &amp; Dataset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EBD"/>
                </a:solidFill>
              </a:rPr>
              <a:t>Business Problem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Airlines lose loyal customers when dissatisfaction goes undetected. This project builds a </a:t>
            </a:r>
            <a:r>
              <a:rPr lang="en-US" sz="1100" b="1" dirty="0">
                <a:solidFill>
                  <a:srgbClr val="334155"/>
                </a:solidFill>
              </a:rPr>
              <a:t>predictive model</a:t>
            </a:r>
            <a:r>
              <a:rPr lang="en-US" sz="1100" dirty="0">
                <a:solidFill>
                  <a:srgbClr val="334155"/>
                </a:solidFill>
              </a:rPr>
              <a:t> to classify passengers as Satisfied or Neutral/Dissatisfied — enabling proactive intervention before churn occurs.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EBD"/>
                </a:solidFill>
              </a:rPr>
              <a:t>Target Variable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3657600" cy="530352"/>
          </a:xfrm>
          <a:prstGeom prst="roundRect">
            <a:avLst>
              <a:gd name="adj" fmla="val 13793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9718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Satisfied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34640" y="297180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6A34A"/>
                </a:solidFill>
              </a:rPr>
              <a:t>43.4%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584448"/>
            <a:ext cx="3657600" cy="530352"/>
          </a:xfrm>
          <a:prstGeom prst="roundRect">
            <a:avLst>
              <a:gd name="adj" fmla="val 13793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63016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Neutral / Dissatisfied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34640" y="363016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97706"/>
                </a:solidFill>
              </a:rPr>
              <a:t>56.6%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206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Mild imbalance (57-43) — no SMOTE needed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914400"/>
            <a:ext cx="420624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1051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EBD"/>
                </a:solidFill>
              </a:rPr>
              <a:t>Dataset at a Glance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00600" y="155448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6459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6EBD"/>
                </a:solidFill>
              </a:rPr>
              <a:t>129,880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800600" y="221284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Total Passengers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0" y="155448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16459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6EBD"/>
                </a:solidFill>
              </a:rPr>
              <a:t>21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58000" y="221284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Predictor Features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2971800"/>
            <a:ext cx="1965960" cy="1234440"/>
          </a:xfrm>
          <a:prstGeom prst="roundRect">
            <a:avLst>
              <a:gd name="adj" fmla="val 769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30632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6EBD"/>
                </a:solidFill>
              </a:rPr>
              <a:t>393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800600" y="358444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Missing Values Fixed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58000" y="2971800"/>
            <a:ext cx="1920240" cy="1234440"/>
          </a:xfrm>
          <a:prstGeom prst="roundRect">
            <a:avLst>
              <a:gd name="adj" fmla="val 769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0" y="30632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6EBD"/>
                </a:solidFill>
              </a:rPr>
              <a:t>3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858000" y="3630168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Mixed-Type Entries Fixed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3863009"/>
            <a:ext cx="3840480" cy="3615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EBD"/>
                </a:solidFill>
              </a:rPr>
              <a:t>Key Data Issues Found &amp; Fixed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4041648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</a:rPr>
              <a:t>• Arrival Delay:</a:t>
            </a:r>
            <a:r>
              <a:rPr lang="en-US" sz="1000" dirty="0">
                <a:solidFill>
                  <a:srgbClr val="334155"/>
                </a:solidFill>
              </a:rPr>
              <a:t> 393 nulls → imputed with median
</a:t>
            </a:r>
            <a:r>
              <a:rPr lang="en-US" sz="1000" b="1" dirty="0">
                <a:solidFill>
                  <a:srgbClr val="334155"/>
                </a:solidFill>
              </a:rPr>
              <a:t>• Flight Distance:</a:t>
            </a:r>
            <a:r>
              <a:rPr lang="en-US" sz="1000" dirty="0">
                <a:solidFill>
                  <a:srgbClr val="334155"/>
                </a:solidFill>
              </a:rPr>
              <a:t> object dtype → converted to numeric
</a:t>
            </a:r>
            <a:r>
              <a:rPr lang="en-US" sz="1000" b="1" dirty="0">
                <a:solidFill>
                  <a:srgbClr val="334155"/>
                </a:solidFill>
              </a:rPr>
              <a:t>• Departure Delay:</a:t>
            </a:r>
            <a:r>
              <a:rPr lang="en-US" sz="1000" dirty="0">
                <a:solidFill>
                  <a:srgbClr val="334155"/>
                </a:solidFill>
              </a:rPr>
              <a:t> dropped (0.99 corr. with Arrival Delay)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Exploratory Data Analysis — Key Insights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914400"/>
            <a:ext cx="2788920" cy="3977640"/>
          </a:xfrm>
          <a:prstGeom prst="roundRect">
            <a:avLst>
              <a:gd name="adj" fmla="val 393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93192" y="1024128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A6EBD"/>
                </a:solidFill>
              </a:rPr>
              <a:t>0.50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93192" y="166420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Correlation with Satisfaction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30352" y="2057400"/>
            <a:ext cx="22402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21488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</a:rPr>
              <a:t>Online Boarding #1 Predictor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3192" y="2606040"/>
            <a:ext cx="2514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</a:rPr>
              <a:t>Online Boarding had the strongest correlation with satisfaction. Followed by In-flight Wifi (0.28) and Seat Comfort (0.35). Digital experience drives passenger happiness.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2788920" cy="3977640"/>
          </a:xfrm>
          <a:prstGeom prst="roundRect">
            <a:avLst>
              <a:gd name="adj" fmla="val 3934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1024128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6A34A"/>
                </a:solidFill>
              </a:rPr>
              <a:t>~70%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337560" y="166420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Business class satisfaction rate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74720" y="2057400"/>
            <a:ext cx="2240280" cy="0"/>
          </a:xfrm>
          <a:prstGeom prst="line">
            <a:avLst/>
          </a:prstGeom>
          <a:noFill/>
          <a:ln w="12700">
            <a:solidFill>
              <a:srgbClr val="86EFA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21488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</a:rPr>
              <a:t>Business Class vs Economy Gap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2606040"/>
            <a:ext cx="2514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</a:rPr>
              <a:t>Business class passengers are highly satisfied. Economy and Economy Plus passengers are largely dissatisfied. Class is the 3rd most important feature in the model.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44768" y="914400"/>
            <a:ext cx="2788920" cy="3977640"/>
          </a:xfrm>
          <a:prstGeom prst="roundRect">
            <a:avLst>
              <a:gd name="adj" fmla="val 3934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81928" y="1024128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97706"/>
                </a:solidFill>
              </a:rPr>
              <a:t>High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281928" y="166420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Dissatisfaction among new flyers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19088" y="2057400"/>
            <a:ext cx="2240280" cy="0"/>
          </a:xfrm>
          <a:prstGeom prst="line">
            <a:avLst/>
          </a:prstGeom>
          <a:noFill/>
          <a:ln w="12700">
            <a:solidFill>
              <a:srgbClr val="FCD3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81928" y="21488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</a:rPr>
              <a:t>First-Time Passengers at Risk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81928" y="2606040"/>
            <a:ext cx="2514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</a:rPr>
              <a:t>Returning customers show significantly higher satisfaction. First-time passengers are the highest churn-risk segment — a prime target for loyalty program intervention.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6EBD"/>
          </a:solidFill>
          <a:ln w="12700">
            <a:solidFill>
              <a:srgbClr val="1A6E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Model Building &amp; Results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89611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EBD"/>
                </a:solidFill>
              </a:rPr>
              <a:t>4 Models Benchmarked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98448"/>
          <a:ext cx="5029200" cy="22860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E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E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ROC-AUC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E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F1 Score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E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Random Forest ★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96.47%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0.9946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0.9586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Decision Tree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94.85%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0.9479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0.9409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Gradient Boosting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94.30%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0.9879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0.9335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Logistic Regression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87.11%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0.9292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0.8532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363931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★ Best model — selected for evaluation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577840" y="868680"/>
            <a:ext cx="3291840" cy="2331720"/>
          </a:xfrm>
          <a:prstGeom prst="roundRect">
            <a:avLst>
              <a:gd name="adj" fmla="val 4706"/>
            </a:avLst>
          </a:prstGeom>
          <a:solidFill>
            <a:srgbClr val="EFF6FF"/>
          </a:solidFill>
          <a:ln w="12700">
            <a:solidFill>
              <a:srgbClr val="1A6EBD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715000" y="96012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EBD"/>
                </a:solidFill>
              </a:rPr>
              <a:t>🏆  Best Model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715000" y="13258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1931"/>
                </a:solidFill>
              </a:rPr>
              <a:t>Random Forest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715000" y="1874520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ROC-AUC: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406640" y="1874520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6A34A"/>
                </a:solidFill>
              </a:rPr>
              <a:t>0.9946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715000" y="2203704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Accuracy: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406640" y="2203704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6A34A"/>
                </a:solidFill>
              </a:rPr>
              <a:t>96.47%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715000" y="2532888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Recall (Dissatisfied):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406640" y="2532888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6A34A"/>
                </a:solidFill>
              </a:rPr>
              <a:t>0.98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577840" y="3337560"/>
            <a:ext cx="3291840" cy="1536192"/>
          </a:xfrm>
          <a:prstGeom prst="roundRect">
            <a:avLst>
              <a:gd name="adj" fmla="val 7143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715000" y="342900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</a:rPr>
              <a:t>5-Fold Cross Validation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715000" y="37947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CV Mean: 0.9939  |  Std: 0.0002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715000" y="409651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Test Gap: 0.0007 → No overfitting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715000" y="437083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All 5 folds consistent: 0.9937–0.9941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274320" y="3931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EBD"/>
                </a:solidFill>
              </a:rPr>
              <a:t>Top Feature Importances</a:t>
            </a:r>
            <a:endParaRPr lang="en-US" sz="120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274320" y="4251960"/>
          <a:ext cx="4937760" cy="8046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00730" y="3246120"/>
            <a:ext cx="2286000" cy="2286000"/>
          </a:xfrm>
          <a:prstGeom prst="ellipse">
            <a:avLst/>
          </a:prstGeom>
          <a:solidFill>
            <a:srgbClr val="1A6EBD">
              <a:alpha val="20000"/>
            </a:srgbClr>
          </a:solidFill>
          <a:ln w="12700">
            <a:solidFill>
              <a:srgbClr val="1A6EBD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10728" y="3995928"/>
            <a:ext cx="1280160" cy="128016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Conclusions &amp; Business Recommendations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Model Summary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AFD4"/>
                </a:solidFill>
              </a:rPr>
              <a:t>Algorithm: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148840" y="13258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Random Forest (Tuned)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171907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AFD4"/>
                </a:solidFill>
              </a:rPr>
              <a:t>ROC-AUC: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148840" y="171907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0.9946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211226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AFD4"/>
                </a:solidFill>
              </a:rPr>
              <a:t>Accuracy: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148840" y="211226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96.47%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250545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AFD4"/>
                </a:solidFill>
              </a:rPr>
              <a:t>F1 Score: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148840" y="250545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0.9586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AFD4"/>
                </a:solidFill>
              </a:rPr>
              <a:t>CV Gap: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148840" y="289864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0.0007 — No Overfitting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5760" y="32918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AFD4"/>
                </a:solidFill>
              </a:rPr>
              <a:t>Recall: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148840" y="32918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0.98 on Dissatisfied class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" y="368503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AFD4"/>
                </a:solidFill>
              </a:rPr>
              <a:t>Imbalance: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148840" y="368503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Handled via class_weight='balanced'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63440" y="91440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Business Recommendations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1298448"/>
            <a:ext cx="4160520" cy="786384"/>
          </a:xfrm>
          <a:prstGeom prst="roundRect">
            <a:avLst>
              <a:gd name="adj" fmla="val 11628"/>
            </a:avLst>
          </a:prstGeom>
          <a:solidFill>
            <a:srgbClr val="132D4A"/>
          </a:solidFill>
          <a:ln w="12700">
            <a:solidFill>
              <a:srgbClr val="1A6EBD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344168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</a:rPr>
              <a:t>01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30368" y="135331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Fix Online Boarding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230368" y="1627632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C4E8"/>
                </a:solidFill>
              </a:rPr>
              <a:t>Highest ROI action. Invest in app-based boarding, mobile check-in and real-time gate notifications.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2157984"/>
            <a:ext cx="4160520" cy="786384"/>
          </a:xfrm>
          <a:prstGeom prst="roundRect">
            <a:avLst>
              <a:gd name="adj" fmla="val 11628"/>
            </a:avLst>
          </a:prstGeom>
          <a:solidFill>
            <a:srgbClr val="132D4A"/>
          </a:solidFill>
          <a:ln w="12700">
            <a:solidFill>
              <a:srgbClr val="1A6EBD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203704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</a:rPr>
              <a:t>02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30368" y="22128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Improve In-flight Wifi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230368" y="2487168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C4E8"/>
                </a:solidFill>
              </a:rPr>
              <a:t>Second highest impact feature. Reliable connectivity is now a baseline expectation for passengers.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3017520"/>
            <a:ext cx="4160520" cy="786384"/>
          </a:xfrm>
          <a:prstGeom prst="roundRect">
            <a:avLst>
              <a:gd name="adj" fmla="val 11628"/>
            </a:avLst>
          </a:prstGeom>
          <a:solidFill>
            <a:srgbClr val="132D4A"/>
          </a:solidFill>
          <a:ln w="12700">
            <a:solidFill>
              <a:srgbClr val="1A6EBD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06324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</a:rPr>
              <a:t>03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230368" y="307238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Economy Class Experience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230368" y="3346704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C4E8"/>
                </a:solidFill>
              </a:rPr>
              <a:t>Economy &amp; Economy Plus are most dissatisfied. Targeted upgrades here affect the majority of passengers.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3877056"/>
            <a:ext cx="4160520" cy="786384"/>
          </a:xfrm>
          <a:prstGeom prst="roundRect">
            <a:avLst>
              <a:gd name="adj" fmla="val 11628"/>
            </a:avLst>
          </a:prstGeom>
          <a:solidFill>
            <a:srgbClr val="132D4A"/>
          </a:solidFill>
          <a:ln w="12700">
            <a:solidFill>
              <a:srgbClr val="1A6EBD">
                <a:alpha val="5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3922776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</a:rPr>
              <a:t>04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230368" y="39319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First-Time Flyer Program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230368" y="4206240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C4E8"/>
                </a:solidFill>
              </a:rPr>
              <a:t>High churn risk segment. A loyalty onboarding program converts first-timers into returning customers.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4736592"/>
            <a:ext cx="8412480" cy="338328"/>
          </a:xfrm>
          <a:prstGeom prst="roundRect">
            <a:avLst>
              <a:gd name="adj" fmla="val 21053"/>
            </a:avLst>
          </a:prstGeom>
          <a:solidFill>
            <a:srgbClr val="132D4A"/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71830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0D9488"/>
                </a:solidFill>
              </a:rPr>
              <a:t>Model ready for deployment — flag high-risk dissatisfied passengers before they churn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831</Words>
  <Application>Microsoft Office PowerPoint</Application>
  <PresentationFormat>On-screen Show (16:9)</PresentationFormat>
  <Paragraphs>122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Airline Passenger Satisfaction Prediction</dc:title>
  <dc:subject>PptxGenJS Presentation</dc:subject>
  <dc:creator>Atharva Khot</dc:creator>
  <cp:lastModifiedBy>Atharva Khot</cp:lastModifiedBy>
  <cp:revision>4</cp:revision>
  <dcterms:created xsi:type="dcterms:W3CDTF">2026-06-13T05:11:11Z</dcterms:created>
  <dcterms:modified xsi:type="dcterms:W3CDTF">2026-06-13T05:19:20Z</dcterms:modified>
</cp:coreProperties>
</file>